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Saludar, presentarnos e indicar el tema: desplegamos una app de 3 capas como contenedores orquestados en AWS ECS Fargate, con un pipeline CI/CD automatizado en GitHub Actions. Recordar que el caso es la empresa Innovatech Chile que avanza hacia orquestacion productiva tras contenedorizar (EP2) y montar infraestructura base (EP1).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10-15 minutos vamos a recorrer la arquitectura, la configuracion del cluster, el despliegue, el autoscaling, el pipeline (con demo si el lab esta arriba) y cerramos con problemas/aprendizajes. Cada uno debe poder explicar cualquier parte: la defensa es individual.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Contextualizar: esta es la tercera etapa. Ya habiamos contenedorizado; ahora el reto es orquestar en un cluster que escale y se recupere solo, y que el despliegue sea automatico. La app es sencilla a proposito (CRUD de productos) para concentrarnos en el DevOps.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foto completa. El navegador entra por el ALB publico. El ALB enruta por ruta: '/' al frontend y '/api/*' al backend (asi el front no necesita la IP del back). El backend habla con MySQL a traves de un NLB interno (TCP 3306). Todo corre en Fargate, las imagenes vienen de ECR, los logs van a CloudWatch y la clave de la BD vive en SSM. Insistir: NO usamos DNS interno de servicios porque el lab lo deniega; lo resolvimos con balanceadores.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Aca esta el 'por que' que mas preguntan. Dos decisiones clave nacieron de las restricciones del Learner Lab: (1) Fargate porque no podemos administrar roles/nodos como pide EKS, y (2) balanceadores en vez de DNS de servicio porque service discovery esta denegado. Son decisiones de ingenieria adaptadas al entorno real, no por capricho.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cluster usa awsvpc, o sea cada task tiene su propia interfaz de red e IP privada. La seguridad se controla con dos SG: el del ALB solo abre el 80 a Internet, y el de las tasks solo acepta trafico desde el ALB (80/3001) y el 3306 dentro de la VPC, asi la BD nunca queda expuesta. Sobre IAM: usamos LabRole para todo porque el lab no deja crear roles; aclarar que en produccion se separarian. Aca va una captura de la consola.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contenedor se describe en una task definition: imagen de ECR, CPU/memoria, puertos, variables y secrets. El frontend escucha en 80, el backend en 3001. La contrasena de la BD entra como secret desde SSM. El acceso publico es la URL del ALB. Mostrar la app funcionando (captura o demo en vivo).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Detalle de como viaja una peticion: el navegador pide /api/productos, el ALB ve que calza con la regla /api/* y la manda al backend, el backend consulta MySQL a traves del NLB. Asi resolvimos el descubrimiento de servicios sin DNS interno, que estaba denegado.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autoscaling mantiene la CPU promedio cerca del 50%: si sube, agrega tasks (hasta 4); si baja, las quita (hasta 2). Elegimos 50% por margen de seguridad ante picos. Los cooldowns evitan que se ponga a escalar y desescalar nervioso. Para demostrarlo se hace una prueba de carga y se ve en CloudWatch como reacciona.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pipeline es el corazon del DevOps de la entrega. En cada push a main: hace build de las imagenes, las sube a ECR etiquetadas con el SHA del commit, renderiza la task definition con la imagen nueva y despliega en ECS esperando estabilidad. Si las tasks no quedan sanas, el paso falla. Aqui es donde, si el lab esta arriba, hacemos la DEMO en vivo: un commit pequeno y mostramos el Action corriendo.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 metricas reales del pipeline: tarda 10-16 min, casi todo en estabilizar el servicio. Y contar la historia de las fallas porque queda muy bien en la defensa: la #1 fue por no haber cargado los secrets todavia, la #3 fue un rollback automatico del circuit breaker cuando las tasks no estabilizaron. Las diagnosticamos leyendo los logs de Actions. Esto demuestra que sabemos operar y depurar el pipeline, no solo armarlo.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 de seguridad. La clave de la BD nunca se escribe en texto plano: vive en SSM como SecureString y se inyecta al contenedor solo en ejecucion. Las llaves de AWS para el pipeline son secrets de GitHub. Y el .gitignore evita subir credenciales por error. Mencionar que el session token del lab caduca y por eso hay que actualizar los secrets cada cierto tiempo.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Todos los contenedores mandan logs a CloudWatch, lo que nos permite depurar. Para validar mostramos la app funcionando, el health check y el CRUD. La tolerancia a fallos se ve en dos niveles: ECS repone tasks caidas, y el circuit breaker revierte despliegues malos solo. Si el lab esta arriba, se puede matar una task en vivo y mostrar como vuelve.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lamina es clave para IE10 (defensa). Cada fila es un problema real y como lo resolvimos. La narrativa: el entorno (Learner Lab) nos impuso restricciones y adaptamos la arquitectura en consecuencia; y cuando el pipeline fallo, diagnosticamos por logs y corregimos. Demuestra criterio tecnico, que es lo que evaluan en la defensa.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con el balance: cumplimos los objetivos (escalabilidad, tolerancia a fallos, automatizacion). Y mostrar vision: que haria falta para llevar esto a produccion de verdad. Esto suele sumar puntos porque demuestra que entendemos las limitaciones del entorno academico.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Agradecer y abrir a preguntas. Tener a mano el repo, la consola de AWS y la pestana Actions para responder mostrando evidencia. Recordar el guion de preguntas de defensa.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91695"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2743200"/>
          </a:xfrm>
          <a:prstGeom prst="rect">
            <a:avLst/>
          </a:prstGeom>
          <a:noFill/>
        </p:spPr>
        <p:txBody>
          <a:bodyPr wrap="square" anchor="t">
            <a:spAutoFit/>
          </a:bodyPr>
          <a:lstStyle/>
          <a:p>
            <a:r>
              <a:rPr sz="5400" b="1" i="0">
                <a:solidFill>
                  <a:srgbClr val="FFFFFF"/>
                </a:solidFill>
                <a:latin typeface="Calibri"/>
              </a:rPr>
              <a:t>Tienda de Perritos</a:t>
            </a:r>
          </a:p>
          <a:p>
            <a:r>
              <a:rPr sz="2400" b="0" i="0">
                <a:solidFill>
                  <a:srgbClr val="DBEAFE"/>
                </a:solidFill>
                <a:latin typeface="Calibri"/>
              </a:rPr>
              <a:t>Orquestacion y automatizacion en la nube con AWS ECS Fargate + CI/CD</a:t>
            </a:r>
          </a:p>
          <a:p>
            <a:r>
              <a:rPr sz="1600" b="0" i="1">
                <a:solidFill>
                  <a:srgbClr val="DBEAFE"/>
                </a:solidFill>
                <a:latin typeface="Calibri"/>
              </a:rPr>
              <a:t>Evaluacion Parcial N3  -  Introduccion a Herramientas DevOps (ISY1101)</a:t>
            </a:r>
          </a:p>
        </p:txBody>
      </p:sp>
      <p:sp>
        <p:nvSpPr>
          <p:cNvPr id="5" name="TextBox 4"/>
          <p:cNvSpPr txBox="1"/>
          <p:nvPr/>
        </p:nvSpPr>
        <p:spPr>
          <a:xfrm>
            <a:off x="731520" y="4800600"/>
            <a:ext cx="10698480" cy="1828800"/>
          </a:xfrm>
          <a:prstGeom prst="rect">
            <a:avLst/>
          </a:prstGeom>
          <a:noFill/>
        </p:spPr>
        <p:txBody>
          <a:bodyPr wrap="square" anchor="t">
            <a:spAutoFit/>
          </a:bodyPr>
          <a:lstStyle/>
          <a:p/>
          <a:p>
            <a:r>
              <a:rPr sz="2000" b="1" i="0">
                <a:solidFill>
                  <a:srgbClr val="1F2937"/>
                </a:solidFill>
                <a:latin typeface="Calibri"/>
              </a:rPr>
              <a:t>Caso: Innovatech Chile</a:t>
            </a:r>
          </a:p>
          <a:p>
            <a:r>
              <a:rPr sz="1600" b="0" i="0">
                <a:solidFill>
                  <a:srgbClr val="6B7280"/>
                </a:solidFill>
                <a:latin typeface="Calibri"/>
              </a:rPr>
              <a:t>Integrantes: [Integrante 1]  -  [Integrante 2]</a:t>
            </a:r>
          </a:p>
          <a:p>
            <a:r>
              <a:rPr sz="1400" b="0" i="0">
                <a:solidFill>
                  <a:srgbClr val="6B7280"/>
                </a:solidFill>
                <a:latin typeface="Calibri"/>
              </a:rPr>
              <a:t>Junio 2026  -  github.com/jeffplop/tienda-perritos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Agenda</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2000" b="1" i="0">
                <a:solidFill>
                  <a:srgbClr val="1F2937"/>
                </a:solidFill>
                <a:latin typeface="Calibri"/>
              </a:rPr>
              <a:t>•  Contexto del caso y objetivo</a:t>
            </a:r>
          </a:p>
          <a:p>
            <a:pPr>
              <a:spcAft>
                <a:spcPts val="800"/>
              </a:spcAft>
            </a:pPr>
            <a:r>
              <a:rPr sz="2000" b="1" i="0">
                <a:solidFill>
                  <a:srgbClr val="1F2937"/>
                </a:solidFill>
                <a:latin typeface="Calibri"/>
              </a:rPr>
              <a:t>•  Arquitectura general de la solucion</a:t>
            </a:r>
          </a:p>
          <a:p>
            <a:pPr>
              <a:spcAft>
                <a:spcPts val="800"/>
              </a:spcAft>
            </a:pPr>
            <a:r>
              <a:rPr sz="2000" b="1" i="0">
                <a:solidFill>
                  <a:srgbClr val="1F2937"/>
                </a:solidFill>
                <a:latin typeface="Calibri"/>
              </a:rPr>
              <a:t>•  Por que ECS Fargate (decisiones tecnicas)</a:t>
            </a:r>
          </a:p>
          <a:p>
            <a:pPr>
              <a:spcAft>
                <a:spcPts val="800"/>
              </a:spcAft>
            </a:pPr>
            <a:r>
              <a:rPr sz="2000" b="1" i="0">
                <a:solidFill>
                  <a:srgbClr val="1F2937"/>
                </a:solidFill>
                <a:latin typeface="Calibri"/>
              </a:rPr>
              <a:t>•  Configuracion del cluster: redes, security groups y roles IAM</a:t>
            </a:r>
          </a:p>
          <a:p>
            <a:pPr>
              <a:spcAft>
                <a:spcPts val="800"/>
              </a:spcAft>
            </a:pPr>
            <a:r>
              <a:rPr sz="2000" b="1" i="0">
                <a:solidFill>
                  <a:srgbClr val="1F2937"/>
                </a:solidFill>
                <a:latin typeface="Calibri"/>
              </a:rPr>
              <a:t>•  Despliegue de Frontend y Backend + comunicacion entre servicios</a:t>
            </a:r>
          </a:p>
          <a:p>
            <a:pPr>
              <a:spcAft>
                <a:spcPts val="800"/>
              </a:spcAft>
            </a:pPr>
            <a:r>
              <a:rPr sz="2000" b="1" i="0">
                <a:solidFill>
                  <a:srgbClr val="1F2937"/>
                </a:solidFill>
                <a:latin typeface="Calibri"/>
              </a:rPr>
              <a:t>•  Autoscaling</a:t>
            </a:r>
          </a:p>
          <a:p>
            <a:pPr>
              <a:spcAft>
                <a:spcPts val="800"/>
              </a:spcAft>
            </a:pPr>
            <a:r>
              <a:rPr sz="2000" b="1" i="0">
                <a:solidFill>
                  <a:srgbClr val="1F2937"/>
                </a:solidFill>
                <a:latin typeface="Calibri"/>
              </a:rPr>
              <a:t>•  Pipeline CI/CD: build -&gt; push -&gt; deploy (demo)</a:t>
            </a:r>
          </a:p>
          <a:p>
            <a:pPr>
              <a:spcAft>
                <a:spcPts val="800"/>
              </a:spcAft>
            </a:pPr>
            <a:r>
              <a:rPr sz="2000" b="1" i="0">
                <a:solidFill>
                  <a:srgbClr val="1F2937"/>
                </a:solidFill>
                <a:latin typeface="Calibri"/>
              </a:rPr>
              <a:t>•  Gestion de secrets, logs y metricas</a:t>
            </a:r>
          </a:p>
          <a:p>
            <a:pPr>
              <a:spcAft>
                <a:spcPts val="800"/>
              </a:spcAft>
            </a:pPr>
            <a:r>
              <a:rPr sz="2000" b="1" i="0">
                <a:solidFill>
                  <a:srgbClr val="1F2937"/>
                </a:solidFill>
                <a:latin typeface="Calibri"/>
              </a:rPr>
              <a:t>•  Problemas encontrados, conclusiones y proyeccion productiva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Contexto del caso</a:t>
            </a:r>
          </a:p>
          <a:p>
            <a:r>
              <a:rPr sz="1300" b="0" i="0">
                <a:solidFill>
                  <a:srgbClr val="DBEAFE"/>
                </a:solidFill>
                <a:latin typeface="Calibri"/>
              </a:rPr>
              <a:t>Innovatech Chile</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900" b="1" i="0">
                <a:solidFill>
                  <a:srgbClr val="1F2937"/>
                </a:solidFill>
                <a:latin typeface="Calibri"/>
              </a:rPr>
              <a:t>•  EP1: infraestructura base en AWS.  EP2: contenedorizacion de la app.</a:t>
            </a:r>
          </a:p>
          <a:p>
            <a:pPr>
              <a:spcAft>
                <a:spcPts val="800"/>
              </a:spcAft>
            </a:pPr>
            <a:r>
              <a:rPr sz="1900" b="1" i="0">
                <a:solidFill>
                  <a:srgbClr val="1F2937"/>
                </a:solidFill>
                <a:latin typeface="Calibri"/>
              </a:rPr>
              <a:t>•  EP3: avanzar hacia orquestacion y automatizacion productiva.</a:t>
            </a:r>
          </a:p>
          <a:p>
            <a:pPr>
              <a:spcAft>
                <a:spcPts val="800"/>
              </a:spcAft>
            </a:pPr>
            <a:r>
              <a:rPr sz="1900" b="1" i="0">
                <a:solidFill>
                  <a:srgbClr val="1F2937"/>
                </a:solidFill>
                <a:latin typeface="Calibri"/>
              </a:rPr>
              <a:t>•  Objetivo: ejecutar la aplicacion de forma escalable, tolerante a fallos y automatizable.</a:t>
            </a:r>
          </a:p>
          <a:p>
            <a:pPr>
              <a:spcAft>
                <a:spcPts val="800"/>
              </a:spcAft>
            </a:pPr>
            <a:r>
              <a:rPr sz="1900" b="1" i="0">
                <a:solidFill>
                  <a:srgbClr val="1F2937"/>
                </a:solidFill>
                <a:latin typeface="Calibri"/>
              </a:rPr>
              <a:t>•  Automatizar por completo los despliegues desde GitHub.</a:t>
            </a:r>
          </a:p>
          <a:p>
            <a:pPr>
              <a:spcAft>
                <a:spcPts val="800"/>
              </a:spcAft>
            </a:pPr>
            <a:r>
              <a:rPr sz="1900" b="1" i="0">
                <a:solidFill>
                  <a:srgbClr val="1F2937"/>
                </a:solidFill>
                <a:latin typeface="Calibri"/>
              </a:rPr>
              <a:t>•  La aplicacion: 'Tienda de Perritos', un CRUD de productos de 3 capas.</a:t>
            </a:r>
          </a:p>
          <a:p>
            <a:pPr lvl="1">
              <a:spcAft>
                <a:spcPts val="800"/>
              </a:spcAft>
            </a:pPr>
            <a:r>
              <a:rPr sz="1700" b="0" i="0">
                <a:solidFill>
                  <a:srgbClr val="6B7280"/>
                </a:solidFill>
                <a:latin typeface="Calibri"/>
              </a:rPr>
              <a:t>–  Frontend nginx (HTML/JS)</a:t>
            </a:r>
          </a:p>
          <a:p>
            <a:pPr lvl="1">
              <a:spcAft>
                <a:spcPts val="800"/>
              </a:spcAft>
            </a:pPr>
            <a:r>
              <a:rPr sz="1700" b="0" i="0">
                <a:solidFill>
                  <a:srgbClr val="6B7280"/>
                </a:solidFill>
                <a:latin typeface="Calibri"/>
              </a:rPr>
              <a:t>–  Backend Node.js + Express (API REST)</a:t>
            </a:r>
          </a:p>
          <a:p>
            <a:pPr lvl="1">
              <a:spcAft>
                <a:spcPts val="800"/>
              </a:spcAft>
            </a:pPr>
            <a:r>
              <a:rPr sz="1700" b="0" i="0">
                <a:solidFill>
                  <a:srgbClr val="6B7280"/>
                </a:solidFill>
                <a:latin typeface="Calibri"/>
              </a:rPr>
              <a:t>–  Base de datos MySQL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Arquitectura de la solucion</a:t>
            </a:r>
          </a:p>
          <a:p>
            <a:r>
              <a:rPr sz="1300" b="0" i="0">
                <a:solidFill>
                  <a:srgbClr val="DBEAFE"/>
                </a:solidFill>
                <a:latin typeface="Calibri"/>
              </a:rPr>
              <a:t>ECS Fargate + ALB + NLB</a:t>
            </a:r>
          </a:p>
        </p:txBody>
      </p:sp>
      <p:sp>
        <p:nvSpPr>
          <p:cNvPr id="3" name="Rounded Rectangle 2"/>
          <p:cNvSpPr/>
          <p:nvPr/>
        </p:nvSpPr>
        <p:spPr>
          <a:xfrm>
            <a:off x="4937760" y="1234440"/>
            <a:ext cx="2286000" cy="502920"/>
          </a:xfrm>
          <a:prstGeom prst="roundRect">
            <a:avLst/>
          </a:prstGeom>
          <a:solidFill>
            <a:srgbClr val="1F2937"/>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Internet</a:t>
            </a:r>
          </a:p>
        </p:txBody>
      </p:sp>
      <p:sp>
        <p:nvSpPr>
          <p:cNvPr id="4" name="Rounded Rectangle 3"/>
          <p:cNvSpPr/>
          <p:nvPr/>
        </p:nvSpPr>
        <p:spPr>
          <a:xfrm>
            <a:off x="3931920" y="1965960"/>
            <a:ext cx="4297680" cy="868680"/>
          </a:xfrm>
          <a:prstGeom prst="roundRect">
            <a:avLst/>
          </a:prstGeom>
          <a:solidFill>
            <a:srgbClr val="3B82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ALB publico  :80</a:t>
            </a:r>
          </a:p>
          <a:p>
            <a:pPr algn="ctr"/>
            <a:r>
              <a:rPr sz="1100" b="0" i="0">
                <a:solidFill>
                  <a:srgbClr val="FFFFFF"/>
                </a:solidFill>
                <a:latin typeface="Calibri"/>
              </a:rPr>
              <a:t>/ -&gt; frontend     /api/* -&gt; backend</a:t>
            </a:r>
          </a:p>
        </p:txBody>
      </p:sp>
      <p:sp>
        <p:nvSpPr>
          <p:cNvPr id="5" name="Rounded Rectangle 4"/>
          <p:cNvSpPr/>
          <p:nvPr/>
        </p:nvSpPr>
        <p:spPr>
          <a:xfrm>
            <a:off x="1828800" y="3200400"/>
            <a:ext cx="2926080" cy="914400"/>
          </a:xfrm>
          <a:prstGeom prst="roundRect">
            <a:avLst/>
          </a:prstGeom>
          <a:solidFill>
            <a:srgbClr val="2563E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FRONTEND</a:t>
            </a:r>
          </a:p>
          <a:p>
            <a:pPr algn="ctr"/>
            <a:r>
              <a:rPr sz="1100" b="0" i="0">
                <a:solidFill>
                  <a:srgbClr val="FFFFFF"/>
                </a:solidFill>
                <a:latin typeface="Calibri"/>
              </a:rPr>
              <a:t>nginx :80  (2 tasks)</a:t>
            </a:r>
          </a:p>
        </p:txBody>
      </p:sp>
      <p:sp>
        <p:nvSpPr>
          <p:cNvPr id="6" name="Rounded Rectangle 5"/>
          <p:cNvSpPr/>
          <p:nvPr/>
        </p:nvSpPr>
        <p:spPr>
          <a:xfrm>
            <a:off x="7223760" y="3200400"/>
            <a:ext cx="3108960" cy="914400"/>
          </a:xfrm>
          <a:prstGeom prst="roundRect">
            <a:avLst/>
          </a:prstGeom>
          <a:solidFill>
            <a:srgbClr val="2563E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BACKEND</a:t>
            </a:r>
          </a:p>
          <a:p>
            <a:pPr algn="ctr"/>
            <a:r>
              <a:rPr sz="1000" b="0" i="0">
                <a:solidFill>
                  <a:srgbClr val="FFFFFF"/>
                </a:solidFill>
                <a:latin typeface="Calibri"/>
              </a:rPr>
              <a:t>node :3001  (2 tasks)</a:t>
            </a:r>
          </a:p>
          <a:p>
            <a:pPr algn="ctr"/>
            <a:r>
              <a:rPr sz="1000" b="0" i="0">
                <a:solidFill>
                  <a:srgbClr val="FFFFFF"/>
                </a:solidFill>
                <a:latin typeface="Calibri"/>
              </a:rPr>
              <a:t>autoscaling CPU 50% (2-&gt;4)</a:t>
            </a:r>
          </a:p>
        </p:txBody>
      </p:sp>
      <p:sp>
        <p:nvSpPr>
          <p:cNvPr id="7" name="Rounded Rectangle 6"/>
          <p:cNvSpPr/>
          <p:nvPr/>
        </p:nvSpPr>
        <p:spPr>
          <a:xfrm>
            <a:off x="7223760" y="4526280"/>
            <a:ext cx="3108960" cy="731520"/>
          </a:xfrm>
          <a:prstGeom prst="roundRect">
            <a:avLst/>
          </a:prstGeom>
          <a:solidFill>
            <a:srgbClr val="6B728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NLB interno  TCP :3306</a:t>
            </a:r>
          </a:p>
        </p:txBody>
      </p:sp>
      <p:sp>
        <p:nvSpPr>
          <p:cNvPr id="8" name="Rounded Rectangle 7"/>
          <p:cNvSpPr/>
          <p:nvPr/>
        </p:nvSpPr>
        <p:spPr>
          <a:xfrm>
            <a:off x="7223760" y="5532120"/>
            <a:ext cx="3108960" cy="777240"/>
          </a:xfrm>
          <a:prstGeom prst="roundRect">
            <a:avLst/>
          </a:prstGeom>
          <a:solidFill>
            <a:srgbClr val="1F2937"/>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MySQL DB  :3306  (1 task)</a:t>
            </a:r>
          </a:p>
          <a:p>
            <a:pPr algn="ctr"/>
            <a:r>
              <a:rPr sz="1000" b="0" i="0">
                <a:solidFill>
                  <a:srgbClr val="FFFFFF"/>
                </a:solidFill>
                <a:latin typeface="Calibri"/>
              </a:rPr>
              <a:t>password desde SSM</a:t>
            </a:r>
          </a:p>
        </p:txBody>
      </p:sp>
      <p:cxnSp>
        <p:nvCxnSpPr>
          <p:cNvPr id="9" name="Connector 8"/>
          <p:cNvCxnSpPr/>
          <p:nvPr/>
        </p:nvCxnSpPr>
        <p:spPr>
          <a:xfrm>
            <a:off x="6080760" y="1737360"/>
            <a:ext cx="0" cy="22860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291840" y="2834640"/>
            <a:ext cx="1280160" cy="36576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79" y="2834640"/>
            <a:ext cx="1280161" cy="36576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78240" y="4114800"/>
            <a:ext cx="0" cy="41148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778240" y="5257800"/>
            <a:ext cx="0" cy="27432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4754880"/>
            <a:ext cx="6126480" cy="1737360"/>
          </a:xfrm>
          <a:prstGeom prst="rect">
            <a:avLst/>
          </a:prstGeom>
          <a:noFill/>
        </p:spPr>
        <p:txBody>
          <a:bodyPr wrap="square" anchor="t">
            <a:spAutoFit/>
          </a:bodyPr>
          <a:lstStyle/>
          <a:p/>
          <a:p>
            <a:r>
              <a:rPr sz="1400" b="0" i="0">
                <a:solidFill>
                  <a:srgbClr val="6B7280"/>
                </a:solidFill>
                <a:latin typeface="Calibri"/>
              </a:rPr>
              <a:t>•  Region us-east-1  -  Cuenta 471112880379</a:t>
            </a:r>
          </a:p>
          <a:p>
            <a:r>
              <a:rPr sz="1400" b="0" i="0">
                <a:solidFill>
                  <a:srgbClr val="6B7280"/>
                </a:solidFill>
                <a:latin typeface="Calibri"/>
              </a:rPr>
              <a:t>•  Cluster: tienda-cluster (Fargate)</a:t>
            </a:r>
          </a:p>
          <a:p>
            <a:r>
              <a:rPr sz="1400" b="0" i="0">
                <a:solidFill>
                  <a:srgbClr val="6B7280"/>
                </a:solidFill>
                <a:latin typeface="Calibri"/>
              </a:rPr>
              <a:t>•  Imagenes en Amazon ECR</a:t>
            </a:r>
          </a:p>
          <a:p>
            <a:r>
              <a:rPr sz="1400" b="0" i="0">
                <a:solidFill>
                  <a:srgbClr val="6B7280"/>
                </a:solidFill>
                <a:latin typeface="Calibri"/>
              </a:rPr>
              <a:t>•  Logs en CloudWatch  -  Secret en SSM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Por que ECS Fargate</a:t>
            </a:r>
          </a:p>
          <a:p>
            <a:r>
              <a:rPr sz="1300" b="0" i="0">
                <a:solidFill>
                  <a:srgbClr val="DBEAFE"/>
                </a:solidFill>
                <a:latin typeface="Calibri"/>
              </a:rPr>
              <a:t>Decisiones tecnicas</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900" b="1" i="0">
                <a:solidFill>
                  <a:srgbClr val="1F2937"/>
                </a:solidFill>
                <a:latin typeface="Calibri"/>
              </a:rPr>
              <a:t>•  ECS Fargate en vez de EKS:</a:t>
            </a:r>
          </a:p>
          <a:p>
            <a:pPr lvl="1">
              <a:spcAft>
                <a:spcPts val="800"/>
              </a:spcAft>
            </a:pPr>
            <a:r>
              <a:rPr sz="1700" b="0" i="0">
                <a:solidFill>
                  <a:srgbClr val="6B7280"/>
                </a:solidFill>
                <a:latin typeface="Calibri"/>
              </a:rPr>
              <a:t>–  En el Learner Lab no se pueden crear roles IAM ni usar eksctl de forma fiable.</a:t>
            </a:r>
          </a:p>
          <a:p>
            <a:pPr lvl="1">
              <a:spcAft>
                <a:spcPts val="800"/>
              </a:spcAft>
            </a:pPr>
            <a:r>
              <a:rPr sz="1700" b="0" i="0">
                <a:solidFill>
                  <a:srgbClr val="6B7280"/>
                </a:solidFill>
                <a:latin typeface="Calibri"/>
              </a:rPr>
              <a:t>–  Fargate es serverless: no administramos nodos EC2. Reutiliza el rol LabRole.</a:t>
            </a:r>
          </a:p>
          <a:p>
            <a:pPr>
              <a:spcAft>
                <a:spcPts val="800"/>
              </a:spcAft>
            </a:pPr>
            <a:r>
              <a:rPr sz="1900" b="1" i="0">
                <a:solidFill>
                  <a:srgbClr val="1F2937"/>
                </a:solidFill>
                <a:latin typeface="Calibri"/>
              </a:rPr>
              <a:t>•  Comunicacion por balanceadores en vez de Cloud Map / Service Connect:</a:t>
            </a:r>
          </a:p>
          <a:p>
            <a:pPr lvl="1">
              <a:spcAft>
                <a:spcPts val="800"/>
              </a:spcAft>
            </a:pPr>
            <a:r>
              <a:rPr sz="1700" b="0" i="0">
                <a:solidFill>
                  <a:srgbClr val="6B7280"/>
                </a:solidFill>
                <a:latin typeface="Calibri"/>
              </a:rPr>
              <a:t>–  El lab deniega la accion servicediscovery:*.</a:t>
            </a:r>
          </a:p>
          <a:p>
            <a:pPr lvl="1">
              <a:spcAft>
                <a:spcPts val="800"/>
              </a:spcAft>
            </a:pPr>
            <a:r>
              <a:rPr sz="1700" b="0" i="0">
                <a:solidFill>
                  <a:srgbClr val="6B7280"/>
                </a:solidFill>
                <a:latin typeface="Calibri"/>
              </a:rPr>
              <a:t>–  Front -&gt; Back: ALB publico por ruta (/api/*).</a:t>
            </a:r>
          </a:p>
          <a:p>
            <a:pPr lvl="1">
              <a:spcAft>
                <a:spcPts val="800"/>
              </a:spcAft>
            </a:pPr>
            <a:r>
              <a:rPr sz="1700" b="0" i="0">
                <a:solidFill>
                  <a:srgbClr val="6B7280"/>
                </a:solidFill>
                <a:latin typeface="Calibri"/>
              </a:rPr>
              <a:t>–  Back -&gt; DB: NLB interno (capa 4, TCP 3306) con DNS estable.</a:t>
            </a:r>
          </a:p>
          <a:p>
            <a:pPr>
              <a:spcAft>
                <a:spcPts val="800"/>
              </a:spcAft>
            </a:pPr>
            <a:r>
              <a:rPr sz="1900" b="1" i="0">
                <a:solidFill>
                  <a:srgbClr val="1F2937"/>
                </a:solidFill>
                <a:latin typeface="Calibri"/>
              </a:rPr>
              <a:t>•  Resultado: arquitectura simple, escalable y 100% dentro de lo permitido por el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Configuracion del cluster</a:t>
            </a:r>
          </a:p>
          <a:p>
            <a:r>
              <a:rPr sz="1300" b="0" i="0">
                <a:solidFill>
                  <a:srgbClr val="DBEAFE"/>
                </a:solidFill>
                <a:latin typeface="Calibri"/>
              </a:rPr>
              <a:t>Redes, Security Groups e IAM (IE1)</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900" b="1" i="0">
                <a:solidFill>
                  <a:srgbClr val="1F2937"/>
                </a:solidFill>
                <a:latin typeface="Calibri"/>
              </a:rPr>
              <a:t>•  Cluster tienda-cluster, modo Fargate, red awsvpc (cada task con su propia IP).</a:t>
            </a:r>
          </a:p>
          <a:p>
            <a:pPr>
              <a:spcAft>
                <a:spcPts val="800"/>
              </a:spcAft>
            </a:pPr>
            <a:r>
              <a:rPr sz="1900" b="1" i="0">
                <a:solidFill>
                  <a:srgbClr val="1F2937"/>
                </a:solidFill>
                <a:latin typeface="Calibri"/>
              </a:rPr>
              <a:t>•  VPC vpc-0b7fae2d77b4d6487.</a:t>
            </a:r>
          </a:p>
          <a:p>
            <a:pPr>
              <a:spcAft>
                <a:spcPts val="800"/>
              </a:spcAft>
            </a:pPr>
            <a:r>
              <a:rPr sz="1900" b="1" i="0">
                <a:solidFill>
                  <a:srgbClr val="1F2937"/>
                </a:solidFill>
                <a:latin typeface="Calibri"/>
              </a:rPr>
              <a:t>•  Security Groups:</a:t>
            </a:r>
          </a:p>
          <a:p>
            <a:pPr lvl="1">
              <a:spcAft>
                <a:spcPts val="800"/>
              </a:spcAft>
            </a:pPr>
            <a:r>
              <a:rPr sz="1700" b="0" i="0">
                <a:solidFill>
                  <a:srgbClr val="6B7280"/>
                </a:solidFill>
                <a:latin typeface="Calibri"/>
              </a:rPr>
              <a:t>–  tienda-alb-sg: entrante 80 desde Internet.</a:t>
            </a:r>
          </a:p>
          <a:p>
            <a:pPr lvl="1">
              <a:spcAft>
                <a:spcPts val="800"/>
              </a:spcAft>
            </a:pPr>
            <a:r>
              <a:rPr sz="1700" b="0" i="0">
                <a:solidFill>
                  <a:srgbClr val="6B7280"/>
                </a:solidFill>
                <a:latin typeface="Calibri"/>
              </a:rPr>
              <a:t>–  tienda-ecs-sg: 80/3001 solo desde el ALB; 3306 solo dentro de la VPC.</a:t>
            </a:r>
          </a:p>
          <a:p>
            <a:pPr>
              <a:spcAft>
                <a:spcPts val="800"/>
              </a:spcAft>
            </a:pPr>
            <a:r>
              <a:rPr sz="1900" b="1" i="0">
                <a:solidFill>
                  <a:srgbClr val="1F2937"/>
                </a:solidFill>
                <a:latin typeface="Calibri"/>
              </a:rPr>
              <a:t>•  Roles IAM: LabRole como execution role (pull de ECR, leer SSM, escribir logs) y task role.</a:t>
            </a:r>
          </a:p>
          <a:p>
            <a:pPr lvl="1">
              <a:spcAft>
                <a:spcPts val="800"/>
              </a:spcAft>
            </a:pPr>
            <a:r>
              <a:rPr sz="1700" b="0" i="0">
                <a:solidFill>
                  <a:srgbClr val="6B7280"/>
                </a:solidFill>
                <a:latin typeface="Calibri"/>
              </a:rPr>
              <a:t>–  En produccion real se separarian en roles distintos con privilegio minimo.</a:t>
            </a:r>
          </a:p>
        </p:txBody>
      </p:sp>
      <p:sp>
        <p:nvSpPr>
          <p:cNvPr id="4" name="TextBox 3"/>
          <p:cNvSpPr txBox="1"/>
          <p:nvPr/>
        </p:nvSpPr>
        <p:spPr>
          <a:xfrm>
            <a:off x="640080" y="5806440"/>
            <a:ext cx="10972800" cy="640080"/>
          </a:xfrm>
          <a:prstGeom prst="rect">
            <a:avLst/>
          </a:prstGeom>
          <a:noFill/>
        </p:spPr>
        <p:txBody>
          <a:bodyPr wrap="square" anchor="t">
            <a:spAutoFit/>
          </a:bodyPr>
          <a:lstStyle/>
          <a:p>
            <a:r>
              <a:rPr sz="1300" b="0" i="1">
                <a:solidFill>
                  <a:srgbClr val="EA580C"/>
                </a:solidFill>
                <a:latin typeface="Calibri"/>
              </a:rPr>
              <a:t>[INSERTAR CAPTURA: consola ECS con los 3 servicios ACTIVE / reglas de los Security Groups]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Despliegue de Frontend y Backend</a:t>
            </a:r>
          </a:p>
          <a:p>
            <a:r>
              <a:rPr sz="1300" b="0" i="0">
                <a:solidFill>
                  <a:srgbClr val="DBEAFE"/>
                </a:solidFill>
                <a:latin typeface="Calibri"/>
              </a:rPr>
              <a:t>Task Definitions desde ECR (IE2)</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900" b="1" i="0">
                <a:solidFill>
                  <a:srgbClr val="1F2937"/>
                </a:solidFill>
                <a:latin typeface="Calibri"/>
              </a:rPr>
              <a:t>•  Cada servicio se define con una Task Definition de Fargate (carpeta ecs/).</a:t>
            </a:r>
          </a:p>
          <a:p>
            <a:pPr>
              <a:spcAft>
                <a:spcPts val="800"/>
              </a:spcAft>
            </a:pPr>
            <a:r>
              <a:rPr sz="1900" b="1" i="0">
                <a:solidFill>
                  <a:srgbClr val="1F2937"/>
                </a:solidFill>
                <a:latin typeface="Calibri"/>
              </a:rPr>
              <a:t>•  Imagenes desde Amazon ECR: tienda-frontend, tienda-backend, tienda-db.</a:t>
            </a:r>
          </a:p>
          <a:p>
            <a:pPr>
              <a:spcAft>
                <a:spcPts val="800"/>
              </a:spcAft>
            </a:pPr>
            <a:r>
              <a:rPr sz="1900" b="1" i="0">
                <a:solidFill>
                  <a:srgbClr val="1F2937"/>
                </a:solidFill>
                <a:latin typeface="Calibri"/>
              </a:rPr>
              <a:t>•  Variables de entorno del backend: DB_HOST (NLB), DB_USER, DB_NAME, DB_PORT.</a:t>
            </a:r>
          </a:p>
          <a:p>
            <a:pPr>
              <a:spcAft>
                <a:spcPts val="800"/>
              </a:spcAft>
            </a:pPr>
            <a:r>
              <a:rPr sz="1900" b="1" i="0">
                <a:solidFill>
                  <a:srgbClr val="1F2937"/>
                </a:solidFill>
                <a:latin typeface="Calibri"/>
              </a:rPr>
              <a:t>•  DB_PASSWORD inyectada como secret desde SSM (no en texto plano).</a:t>
            </a:r>
          </a:p>
          <a:p>
            <a:pPr>
              <a:spcAft>
                <a:spcPts val="800"/>
              </a:spcAft>
            </a:pPr>
            <a:r>
              <a:rPr sz="1900" b="1" i="0">
                <a:solidFill>
                  <a:srgbClr val="1F2937"/>
                </a:solidFill>
                <a:latin typeface="Calibri"/>
              </a:rPr>
              <a:t>•  Balanceo: target groups tg-frontend y tg-backend (ALB), tg-db (NLB).</a:t>
            </a:r>
          </a:p>
          <a:p>
            <a:pPr>
              <a:spcAft>
                <a:spcPts val="800"/>
              </a:spcAft>
            </a:pPr>
            <a:r>
              <a:rPr sz="1900" b="1" i="0">
                <a:solidFill>
                  <a:srgbClr val="1F2937"/>
                </a:solidFill>
                <a:latin typeface="Calibri"/>
              </a:rPr>
              <a:t>•  Acceso publico: http://tienda-alb-1107170895.us-east-1.elb.amazonaws.com</a:t>
            </a:r>
          </a:p>
        </p:txBody>
      </p:sp>
      <p:sp>
        <p:nvSpPr>
          <p:cNvPr id="4" name="TextBox 3"/>
          <p:cNvSpPr txBox="1"/>
          <p:nvPr/>
        </p:nvSpPr>
        <p:spPr>
          <a:xfrm>
            <a:off x="640080" y="5806440"/>
            <a:ext cx="10972800" cy="640080"/>
          </a:xfrm>
          <a:prstGeom prst="rect">
            <a:avLst/>
          </a:prstGeom>
          <a:noFill/>
        </p:spPr>
        <p:txBody>
          <a:bodyPr wrap="square" anchor="t">
            <a:spAutoFit/>
          </a:bodyPr>
          <a:lstStyle/>
          <a:p>
            <a:r>
              <a:rPr sz="1300" b="0" i="1">
                <a:solidFill>
                  <a:srgbClr val="EA580C"/>
                </a:solidFill>
                <a:latin typeface="Calibri"/>
              </a:rPr>
              <a:t>[INSERTAR CAPTURA: la app abierta en el navegador con la tabla de productos]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Comunicacion entre servicios</a:t>
            </a:r>
          </a:p>
        </p:txBody>
      </p:sp>
      <p:sp>
        <p:nvSpPr>
          <p:cNvPr id="3" name="Rounded Rectangle 2"/>
          <p:cNvSpPr/>
          <p:nvPr/>
        </p:nvSpPr>
        <p:spPr>
          <a:xfrm>
            <a:off x="731520" y="2194560"/>
            <a:ext cx="2377440" cy="914400"/>
          </a:xfrm>
          <a:prstGeom prst="roundRect">
            <a:avLst/>
          </a:prstGeom>
          <a:solidFill>
            <a:srgbClr val="6B728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Navegador</a:t>
            </a:r>
          </a:p>
          <a:p>
            <a:pPr algn="ctr"/>
            <a:r>
              <a:rPr sz="1100" b="0" i="0">
                <a:solidFill>
                  <a:srgbClr val="FFFFFF"/>
                </a:solidFill>
                <a:latin typeface="Calibri"/>
              </a:rPr>
              <a:t>/api/productos</a:t>
            </a:r>
          </a:p>
        </p:txBody>
      </p:sp>
      <p:sp>
        <p:nvSpPr>
          <p:cNvPr id="4" name="Rounded Rectangle 3"/>
          <p:cNvSpPr/>
          <p:nvPr/>
        </p:nvSpPr>
        <p:spPr>
          <a:xfrm>
            <a:off x="3749039" y="2194560"/>
            <a:ext cx="2377440" cy="914400"/>
          </a:xfrm>
          <a:prstGeom prst="roundRect">
            <a:avLst/>
          </a:prstGeom>
          <a:solidFill>
            <a:srgbClr val="3B82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ALB</a:t>
            </a:r>
          </a:p>
          <a:p>
            <a:pPr algn="ctr"/>
            <a:r>
              <a:rPr sz="1100" b="0" i="0">
                <a:solidFill>
                  <a:srgbClr val="FFFFFF"/>
                </a:solidFill>
                <a:latin typeface="Calibri"/>
              </a:rPr>
              <a:t>regla /api/* </a:t>
            </a:r>
          </a:p>
        </p:txBody>
      </p:sp>
      <p:sp>
        <p:nvSpPr>
          <p:cNvPr id="5" name="Rounded Rectangle 4"/>
          <p:cNvSpPr/>
          <p:nvPr/>
        </p:nvSpPr>
        <p:spPr>
          <a:xfrm>
            <a:off x="6766560" y="2194560"/>
            <a:ext cx="2377440" cy="914400"/>
          </a:xfrm>
          <a:prstGeom prst="roundRect">
            <a:avLst/>
          </a:prstGeom>
          <a:solidFill>
            <a:srgbClr val="2563E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Backend</a:t>
            </a:r>
          </a:p>
          <a:p>
            <a:pPr algn="ctr"/>
            <a:r>
              <a:rPr sz="1100" b="0" i="0">
                <a:solidFill>
                  <a:srgbClr val="FFFFFF"/>
                </a:solidFill>
                <a:latin typeface="Calibri"/>
              </a:rPr>
              <a:t>:3001</a:t>
            </a:r>
          </a:p>
        </p:txBody>
      </p:sp>
      <p:sp>
        <p:nvSpPr>
          <p:cNvPr id="6" name="Rounded Rectangle 5"/>
          <p:cNvSpPr/>
          <p:nvPr/>
        </p:nvSpPr>
        <p:spPr>
          <a:xfrm>
            <a:off x="6766560" y="3749039"/>
            <a:ext cx="2377440" cy="868680"/>
          </a:xfrm>
          <a:prstGeom prst="roundRect">
            <a:avLst/>
          </a:prstGeom>
          <a:solidFill>
            <a:srgbClr val="6B728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NLB :3306</a:t>
            </a:r>
          </a:p>
        </p:txBody>
      </p:sp>
      <p:sp>
        <p:nvSpPr>
          <p:cNvPr id="7" name="Rounded Rectangle 6"/>
          <p:cNvSpPr/>
          <p:nvPr/>
        </p:nvSpPr>
        <p:spPr>
          <a:xfrm>
            <a:off x="6766560" y="5029200"/>
            <a:ext cx="2377440" cy="868680"/>
          </a:xfrm>
          <a:prstGeom prst="roundRect">
            <a:avLst/>
          </a:prstGeom>
          <a:solidFill>
            <a:srgbClr val="1F2937"/>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MySQL</a:t>
            </a:r>
          </a:p>
        </p:txBody>
      </p:sp>
      <p:cxnSp>
        <p:nvCxnSpPr>
          <p:cNvPr id="8" name="Connector 7"/>
          <p:cNvCxnSpPr/>
          <p:nvPr/>
        </p:nvCxnSpPr>
        <p:spPr>
          <a:xfrm>
            <a:off x="3108960" y="2651760"/>
            <a:ext cx="640079" cy="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126480" y="2651760"/>
            <a:ext cx="640080" cy="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955279" y="3108960"/>
            <a:ext cx="0" cy="640079"/>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955279" y="4617720"/>
            <a:ext cx="0" cy="41148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486400"/>
            <a:ext cx="10972800" cy="4937760"/>
          </a:xfrm>
          <a:prstGeom prst="rect">
            <a:avLst/>
          </a:prstGeom>
          <a:noFill/>
        </p:spPr>
        <p:txBody>
          <a:bodyPr wrap="square" anchor="t">
            <a:spAutoFit/>
          </a:bodyPr>
          <a:lstStyle/>
          <a:p>
            <a:pPr>
              <a:spcAft>
                <a:spcPts val="800"/>
              </a:spcAft>
            </a:pPr>
            <a:r>
              <a:rPr sz="1700" b="1" i="0">
                <a:solidFill>
                  <a:srgbClr val="1F2937"/>
                </a:solidFill>
                <a:latin typeface="Calibri"/>
              </a:rPr>
              <a:t>•  Front -&gt; Back: el ALB enruta /api/* al backend. Sin DNS interno.</a:t>
            </a:r>
          </a:p>
          <a:p>
            <a:pPr>
              <a:spcAft>
                <a:spcPts val="800"/>
              </a:spcAft>
            </a:pPr>
            <a:r>
              <a:rPr sz="1700" b="1" i="0">
                <a:solidFill>
                  <a:srgbClr val="1F2937"/>
                </a:solidFill>
                <a:latin typeface="Calibri"/>
              </a:rPr>
              <a:t>•  Back -&gt; DB: el backend usa el DNS del NLB como DB_HOST.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Autoscaling</a:t>
            </a:r>
          </a:p>
          <a:p>
            <a:r>
              <a:rPr sz="1300" b="0" i="0">
                <a:solidFill>
                  <a:srgbClr val="DBEAFE"/>
                </a:solidFill>
                <a:latin typeface="Calibri"/>
              </a:rPr>
              <a:t>Application Auto Scaling - Target Tracking (IE3)</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900" b="1" i="0">
                <a:solidFill>
                  <a:srgbClr val="1F2937"/>
                </a:solidFill>
                <a:latin typeface="Calibri"/>
              </a:rPr>
              <a:t>•  Politica Target Tracking sobre CPU promedio del servicio.</a:t>
            </a:r>
          </a:p>
          <a:p>
            <a:pPr>
              <a:spcAft>
                <a:spcPts val="800"/>
              </a:spcAft>
            </a:pPr>
            <a:r>
              <a:rPr sz="1900" b="1" i="0">
                <a:solidFill>
                  <a:srgbClr val="1F2937"/>
                </a:solidFill>
                <a:latin typeface="Calibri"/>
              </a:rPr>
              <a:t>•  Objetivo: 50% de CPU.  Minimo 2 tasks, maximo 4.</a:t>
            </a:r>
          </a:p>
          <a:p>
            <a:pPr>
              <a:spcAft>
                <a:spcPts val="800"/>
              </a:spcAft>
            </a:pPr>
            <a:r>
              <a:rPr sz="1900" b="1" i="0">
                <a:solidFill>
                  <a:srgbClr val="1F2937"/>
                </a:solidFill>
                <a:latin typeface="Calibri"/>
              </a:rPr>
              <a:t>•  Por que 50%: deja margen para picos mientras se levantan tasks nuevas, sin sobre-aprovisionar.</a:t>
            </a:r>
          </a:p>
          <a:p>
            <a:pPr>
              <a:spcAft>
                <a:spcPts val="800"/>
              </a:spcAft>
            </a:pPr>
            <a:r>
              <a:rPr sz="1900" b="1" i="0">
                <a:solidFill>
                  <a:srgbClr val="1F2937"/>
                </a:solidFill>
                <a:latin typeface="Calibri"/>
              </a:rPr>
              <a:t>•  Cooldowns de 60 s para evitar oscilaciones (escalar/desescalar en cadena).</a:t>
            </a:r>
          </a:p>
          <a:p>
            <a:pPr>
              <a:spcAft>
                <a:spcPts val="800"/>
              </a:spcAft>
            </a:pPr>
            <a:r>
              <a:rPr sz="1900" b="1" i="0">
                <a:solidFill>
                  <a:srgbClr val="1F2937"/>
                </a:solidFill>
                <a:latin typeface="Calibri"/>
              </a:rPr>
              <a:t>•  Como se evidencia: generar carga (hey/ab) y ver en CloudWatch la CPU subir y ECS crear tasks.</a:t>
            </a:r>
          </a:p>
        </p:txBody>
      </p:sp>
      <p:sp>
        <p:nvSpPr>
          <p:cNvPr id="4" name="TextBox 3"/>
          <p:cNvSpPr txBox="1"/>
          <p:nvPr/>
        </p:nvSpPr>
        <p:spPr>
          <a:xfrm>
            <a:off x="640080" y="5669280"/>
            <a:ext cx="10972800" cy="822960"/>
          </a:xfrm>
          <a:prstGeom prst="rect">
            <a:avLst/>
          </a:prstGeom>
          <a:noFill/>
        </p:spPr>
        <p:txBody>
          <a:bodyPr wrap="square" anchor="t">
            <a:spAutoFit/>
          </a:bodyPr>
          <a:lstStyle/>
          <a:p>
            <a:r>
              <a:rPr sz="1300" b="0" i="1">
                <a:solidFill>
                  <a:srgbClr val="EA580C"/>
                </a:solidFill>
                <a:latin typeface="Calibri"/>
              </a:rPr>
              <a:t>[INSERTAR CAPTURA: politica de autoscaling + grafico de CPU y recuento de tasks bajo carga]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Pipeline CI/CD</a:t>
            </a:r>
          </a:p>
          <a:p>
            <a:r>
              <a:rPr sz="1300" b="0" i="0">
                <a:solidFill>
                  <a:srgbClr val="DBEAFE"/>
                </a:solidFill>
                <a:latin typeface="Calibri"/>
              </a:rPr>
              <a:t>GitHub Actions: build -&gt; push -&gt; deploy (IE9)</a:t>
            </a:r>
          </a:p>
        </p:txBody>
      </p:sp>
      <p:sp>
        <p:nvSpPr>
          <p:cNvPr id="3" name="Rounded Rectangle 2"/>
          <p:cNvSpPr/>
          <p:nvPr/>
        </p:nvSpPr>
        <p:spPr>
          <a:xfrm>
            <a:off x="502920" y="2103120"/>
            <a:ext cx="1874519" cy="1005840"/>
          </a:xfrm>
          <a:prstGeom prst="roundRect">
            <a:avLst/>
          </a:prstGeom>
          <a:solidFill>
            <a:srgbClr val="6B7280"/>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push a</a:t>
            </a:r>
          </a:p>
          <a:p>
            <a:pPr algn="ctr"/>
            <a:r>
              <a:rPr sz="1200" b="0" i="0">
                <a:solidFill>
                  <a:srgbClr val="FFFFFF"/>
                </a:solidFill>
                <a:latin typeface="Calibri"/>
              </a:rPr>
              <a:t>main</a:t>
            </a:r>
          </a:p>
        </p:txBody>
      </p:sp>
      <p:cxnSp>
        <p:nvCxnSpPr>
          <p:cNvPr id="4" name="Connector 3"/>
          <p:cNvCxnSpPr/>
          <p:nvPr/>
        </p:nvCxnSpPr>
        <p:spPr>
          <a:xfrm>
            <a:off x="2377439" y="2606040"/>
            <a:ext cx="365761" cy="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788920" y="2103120"/>
            <a:ext cx="1874519" cy="1005840"/>
          </a:xfrm>
          <a:prstGeom prst="roundRect">
            <a:avLst/>
          </a:prstGeom>
          <a:solidFill>
            <a:srgbClr val="3B82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Build</a:t>
            </a:r>
          </a:p>
          <a:p>
            <a:pPr algn="ctr"/>
            <a:r>
              <a:rPr sz="1200" b="0" i="0">
                <a:solidFill>
                  <a:srgbClr val="FFFFFF"/>
                </a:solidFill>
                <a:latin typeface="Calibri"/>
              </a:rPr>
              <a:t>imagenes</a:t>
            </a:r>
          </a:p>
        </p:txBody>
      </p:sp>
      <p:cxnSp>
        <p:nvCxnSpPr>
          <p:cNvPr id="6" name="Connector 5"/>
          <p:cNvCxnSpPr/>
          <p:nvPr/>
        </p:nvCxnSpPr>
        <p:spPr>
          <a:xfrm>
            <a:off x="4663439" y="2606040"/>
            <a:ext cx="365761" cy="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74920" y="2103120"/>
            <a:ext cx="1874519" cy="1005840"/>
          </a:xfrm>
          <a:prstGeom prst="roundRect">
            <a:avLst/>
          </a:prstGeom>
          <a:solidFill>
            <a:srgbClr val="3B82F6"/>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Push a</a:t>
            </a:r>
          </a:p>
          <a:p>
            <a:pPr algn="ctr"/>
            <a:r>
              <a:rPr sz="1200" b="0" i="0">
                <a:solidFill>
                  <a:srgbClr val="FFFFFF"/>
                </a:solidFill>
                <a:latin typeface="Calibri"/>
              </a:rPr>
              <a:t>ECR</a:t>
            </a:r>
          </a:p>
        </p:txBody>
      </p:sp>
      <p:cxnSp>
        <p:nvCxnSpPr>
          <p:cNvPr id="8" name="Connector 7"/>
          <p:cNvCxnSpPr/>
          <p:nvPr/>
        </p:nvCxnSpPr>
        <p:spPr>
          <a:xfrm>
            <a:off x="6949439" y="2606040"/>
            <a:ext cx="365761" cy="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60920" y="2103120"/>
            <a:ext cx="1874519" cy="1005840"/>
          </a:xfrm>
          <a:prstGeom prst="roundRect">
            <a:avLst/>
          </a:prstGeom>
          <a:solidFill>
            <a:srgbClr val="2563EB"/>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Render</a:t>
            </a:r>
          </a:p>
          <a:p>
            <a:pPr algn="ctr"/>
            <a:r>
              <a:rPr sz="1200" b="0" i="0">
                <a:solidFill>
                  <a:srgbClr val="FFFFFF"/>
                </a:solidFill>
                <a:latin typeface="Calibri"/>
              </a:rPr>
              <a:t>task def</a:t>
            </a:r>
          </a:p>
        </p:txBody>
      </p:sp>
      <p:cxnSp>
        <p:nvCxnSpPr>
          <p:cNvPr id="10" name="Connector 9"/>
          <p:cNvCxnSpPr/>
          <p:nvPr/>
        </p:nvCxnSpPr>
        <p:spPr>
          <a:xfrm>
            <a:off x="9235439" y="2606040"/>
            <a:ext cx="365761" cy="0"/>
          </a:xfrm>
          <a:prstGeom prst="bentConnector3">
            <a:avLst/>
          </a:prstGeom>
          <a:ln w="28575">
            <a:solidFill>
              <a:srgbClr val="1F29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46920" y="2103120"/>
            <a:ext cx="1874519" cy="1005840"/>
          </a:xfrm>
          <a:prstGeom prst="roundRect">
            <a:avLst/>
          </a:prstGeom>
          <a:solidFill>
            <a:srgbClr val="16A34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Calibri"/>
              </a:rPr>
              <a:t>Deploy</a:t>
            </a:r>
          </a:p>
          <a:p>
            <a:pPr algn="ctr"/>
            <a:r>
              <a:rPr sz="1200" b="0" i="0">
                <a:solidFill>
                  <a:srgbClr val="FFFFFF"/>
                </a:solidFill>
                <a:latin typeface="Calibri"/>
              </a:rPr>
              <a:t>ECS</a:t>
            </a:r>
          </a:p>
        </p:txBody>
      </p:sp>
      <p:sp>
        <p:nvSpPr>
          <p:cNvPr id="12" name="TextBox 11"/>
          <p:cNvSpPr txBox="1"/>
          <p:nvPr/>
        </p:nvSpPr>
        <p:spPr>
          <a:xfrm>
            <a:off x="640080" y="3657600"/>
            <a:ext cx="10972800" cy="4937760"/>
          </a:xfrm>
          <a:prstGeom prst="rect">
            <a:avLst/>
          </a:prstGeom>
          <a:noFill/>
        </p:spPr>
        <p:txBody>
          <a:bodyPr wrap="square" anchor="t">
            <a:spAutoFit/>
          </a:bodyPr>
          <a:lstStyle/>
          <a:p>
            <a:pPr>
              <a:spcAft>
                <a:spcPts val="800"/>
              </a:spcAft>
            </a:pPr>
            <a:r>
              <a:rPr sz="1800" b="1" i="0">
                <a:solidFill>
                  <a:srgbClr val="1F2937"/>
                </a:solidFill>
                <a:latin typeface="Calibri"/>
              </a:rPr>
              <a:t>•  Se dispara en cada push a main (y manualmente con workflow_dispatch).</a:t>
            </a:r>
          </a:p>
          <a:p>
            <a:pPr>
              <a:spcAft>
                <a:spcPts val="800"/>
              </a:spcAft>
            </a:pPr>
            <a:r>
              <a:rPr sz="1800" b="1" i="0">
                <a:solidFill>
                  <a:srgbClr val="1F2937"/>
                </a:solidFill>
                <a:latin typeface="Calibri"/>
              </a:rPr>
              <a:t>•  Tag de imagen = primeros 7 del commit SHA (trazabilidad).</a:t>
            </a:r>
          </a:p>
          <a:p>
            <a:pPr>
              <a:spcAft>
                <a:spcPts val="800"/>
              </a:spcAft>
            </a:pPr>
            <a:r>
              <a:rPr sz="1800" b="1" i="0">
                <a:solidFill>
                  <a:srgbClr val="1F2937"/>
                </a:solidFill>
                <a:latin typeface="Calibri"/>
              </a:rPr>
              <a:t>•  wait-for-service-stability: el deploy no es 'exito' hasta que ECS estabiliza las tasks.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Demo del pipeline y metricas</a:t>
            </a:r>
          </a:p>
          <a:p>
            <a:r>
              <a:rPr sz="1300" b="0" i="0">
                <a:solidFill>
                  <a:srgbClr val="DBEAFE"/>
                </a:solidFill>
                <a:latin typeface="Calibri"/>
              </a:rPr>
              <a:t>Tiempos y ejecuciones reales (IE6)</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800" b="1" i="0">
                <a:solidFill>
                  <a:srgbClr val="1F2937"/>
                </a:solidFill>
                <a:latin typeface="Calibri"/>
              </a:rPr>
              <a:t>•  Demo en vivo: hacer un commit y mostrar el run en GitHub Actions desplegando a ECS.</a:t>
            </a:r>
          </a:p>
          <a:p>
            <a:pPr>
              <a:spcAft>
                <a:spcPts val="800"/>
              </a:spcAft>
            </a:pPr>
            <a:r>
              <a:rPr sz="1800" b="1" i="0">
                <a:solidFill>
                  <a:srgbClr val="1F2937"/>
                </a:solidFill>
                <a:latin typeface="Calibri"/>
              </a:rPr>
              <a:t>•  4 ejecuciones registradas el 18-06-2026:</a:t>
            </a:r>
          </a:p>
          <a:p>
            <a:pPr lvl="1">
              <a:spcAft>
                <a:spcPts val="800"/>
              </a:spcAft>
            </a:pPr>
            <a:r>
              <a:rPr sz="1600" b="0" i="0">
                <a:solidFill>
                  <a:srgbClr val="6B7280"/>
                </a:solidFill>
                <a:latin typeface="Calibri"/>
              </a:rPr>
              <a:t>–  Run #2 (exito): ~10 min   |   Run #4 (exito): ~16 min</a:t>
            </a:r>
          </a:p>
          <a:p>
            <a:pPr lvl="1">
              <a:spcAft>
                <a:spcPts val="800"/>
              </a:spcAft>
            </a:pPr>
            <a:r>
              <a:rPr sz="1600" b="0" i="0">
                <a:solidFill>
                  <a:srgbClr val="6B7280"/>
                </a:solidFill>
                <a:latin typeface="Calibri"/>
              </a:rPr>
              <a:t>–  Run #1 (falla): secrets de AWS no cargados -&gt; 'Could not load credentials'.</a:t>
            </a:r>
          </a:p>
          <a:p>
            <a:pPr lvl="1">
              <a:spcAft>
                <a:spcPts val="800"/>
              </a:spcAft>
            </a:pPr>
            <a:r>
              <a:rPr sz="1600" b="0" i="0">
                <a:solidFill>
                  <a:srgbClr val="6B7280"/>
                </a:solidFill>
                <a:latin typeface="Calibri"/>
              </a:rPr>
              <a:t>–  Run #3 (falla): rollback automatico por el circuit breaker de ECS.</a:t>
            </a:r>
          </a:p>
          <a:p>
            <a:pPr>
              <a:spcAft>
                <a:spcPts val="800"/>
              </a:spcAft>
            </a:pPr>
            <a:r>
              <a:rPr sz="1800" b="1" i="0">
                <a:solidFill>
                  <a:srgbClr val="1F2937"/>
                </a:solidFill>
                <a:latin typeface="Calibri"/>
              </a:rPr>
              <a:t>•  El tiempo se va casi todo en la espera de estabilizacion del servicio.</a:t>
            </a:r>
          </a:p>
          <a:p>
            <a:pPr>
              <a:spcAft>
                <a:spcPts val="800"/>
              </a:spcAft>
            </a:pPr>
            <a:r>
              <a:rPr sz="1800" b="1" i="0">
                <a:solidFill>
                  <a:srgbClr val="1F2937"/>
                </a:solidFill>
                <a:latin typeface="Calibri"/>
              </a:rPr>
              <a:t>•  Las fallas fueron de configuracion / estabilizacion, NO del codigo (vistas en logs).</a:t>
            </a:r>
          </a:p>
        </p:txBody>
      </p:sp>
      <p:sp>
        <p:nvSpPr>
          <p:cNvPr id="4" name="TextBox 3"/>
          <p:cNvSpPr txBox="1"/>
          <p:nvPr/>
        </p:nvSpPr>
        <p:spPr>
          <a:xfrm>
            <a:off x="640080" y="5897880"/>
            <a:ext cx="10972800" cy="548640"/>
          </a:xfrm>
          <a:prstGeom prst="rect">
            <a:avLst/>
          </a:prstGeom>
          <a:noFill/>
        </p:spPr>
        <p:txBody>
          <a:bodyPr wrap="square" anchor="t">
            <a:spAutoFit/>
          </a:bodyPr>
          <a:lstStyle/>
          <a:p>
            <a:r>
              <a:rPr sz="1300" b="0" i="1">
                <a:solidFill>
                  <a:srgbClr val="EA580C"/>
                </a:solidFill>
                <a:latin typeface="Calibri"/>
              </a:rPr>
              <a:t>[INSERTAR CAPTURA: pestaña Actions con el run en verde]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Gestion de secrets y credenciales</a:t>
            </a:r>
          </a:p>
          <a:p>
            <a:r>
              <a:rPr sz="1300" b="0" i="0">
                <a:solidFill>
                  <a:srgbClr val="DBEAFE"/>
                </a:solidFill>
                <a:latin typeface="Calibri"/>
              </a:rPr>
              <a:t>(IE5)</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900" b="1" i="0">
                <a:solidFill>
                  <a:srgbClr val="1F2937"/>
                </a:solidFill>
                <a:latin typeface="Calibri"/>
              </a:rPr>
              <a:t>•  Contrasena de la BD en AWS SSM Parameter Store (SecureString): /tienda/db_password.</a:t>
            </a:r>
          </a:p>
          <a:p>
            <a:pPr lvl="1">
              <a:spcAft>
                <a:spcPts val="800"/>
              </a:spcAft>
            </a:pPr>
            <a:r>
              <a:rPr sz="1700" b="0" i="0">
                <a:solidFill>
                  <a:srgbClr val="6B7280"/>
                </a:solidFill>
                <a:latin typeface="Calibri"/>
              </a:rPr>
              <a:t>–  La task definition la referencia como secret -&gt; el contenedor la recibe en runtime.</a:t>
            </a:r>
          </a:p>
          <a:p>
            <a:pPr lvl="1">
              <a:spcAft>
                <a:spcPts val="800"/>
              </a:spcAft>
            </a:pPr>
            <a:r>
              <a:rPr sz="1700" b="0" i="0">
                <a:solidFill>
                  <a:srgbClr val="6B7280"/>
                </a:solidFill>
                <a:latin typeface="Calibri"/>
              </a:rPr>
              <a:t>–  No queda en la imagen, ni en el codigo, ni en el repositorio.</a:t>
            </a:r>
          </a:p>
          <a:p>
            <a:pPr>
              <a:spcAft>
                <a:spcPts val="800"/>
              </a:spcAft>
            </a:pPr>
            <a:r>
              <a:rPr sz="1900" b="1" i="0">
                <a:solidFill>
                  <a:srgbClr val="1F2937"/>
                </a:solidFill>
                <a:latin typeface="Calibri"/>
              </a:rPr>
              <a:t>•  Credenciales del pipeline como GitHub Actions Secrets (no en el codigo).</a:t>
            </a:r>
          </a:p>
          <a:p>
            <a:pPr>
              <a:spcAft>
                <a:spcPts val="800"/>
              </a:spcAft>
            </a:pPr>
            <a:r>
              <a:rPr sz="1900" b="1" i="0">
                <a:solidFill>
                  <a:srgbClr val="1F2937"/>
                </a:solidFill>
                <a:latin typeface="Calibri"/>
              </a:rPr>
              <a:t>•  .gitignore excluye .env, *.pem y archivos de credenciales.</a:t>
            </a:r>
          </a:p>
          <a:p>
            <a:pPr>
              <a:spcAft>
                <a:spcPts val="800"/>
              </a:spcAft>
            </a:pPr>
            <a:r>
              <a:rPr sz="1900" b="1" i="0">
                <a:solidFill>
                  <a:srgbClr val="1F2937"/>
                </a:solidFill>
                <a:latin typeface="Calibri"/>
              </a:rPr>
              <a:t>•  Atencion: las credenciales del Learner Lab caducan; hay que refrescar los secrets del repo.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Logs, validacion y autorecuperacion</a:t>
            </a:r>
          </a:p>
          <a:p>
            <a:r>
              <a:rPr sz="1300" b="0" i="0">
                <a:solidFill>
                  <a:srgbClr val="DBEAFE"/>
                </a:solidFill>
                <a:latin typeface="Calibri"/>
              </a:rPr>
              <a:t>(IE6 / IE7)</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800" b="1" i="0">
                <a:solidFill>
                  <a:srgbClr val="1F2937"/>
                </a:solidFill>
                <a:latin typeface="Calibri"/>
              </a:rPr>
              <a:t>•  Logs: driver awslogs -&gt; CloudWatch (/ecs/tienda-frontend, -backend, -db).</a:t>
            </a:r>
          </a:p>
          <a:p>
            <a:pPr>
              <a:spcAft>
                <a:spcPts val="800"/>
              </a:spcAft>
            </a:pPr>
            <a:r>
              <a:rPr sz="1800" b="1" i="0">
                <a:solidFill>
                  <a:srgbClr val="1F2937"/>
                </a:solidFill>
                <a:latin typeface="Calibri"/>
              </a:rPr>
              <a:t>•  Validacion funcional:</a:t>
            </a:r>
          </a:p>
          <a:p>
            <a:pPr lvl="1">
              <a:spcAft>
                <a:spcPts val="800"/>
              </a:spcAft>
            </a:pPr>
            <a:r>
              <a:rPr sz="1600" b="0" i="0">
                <a:solidFill>
                  <a:srgbClr val="6B7280"/>
                </a:solidFill>
                <a:latin typeface="Calibri"/>
              </a:rPr>
              <a:t>–  Frontend accesible por la URL del ALB.</a:t>
            </a:r>
          </a:p>
          <a:p>
            <a:pPr lvl="1">
              <a:spcAft>
                <a:spcPts val="800"/>
              </a:spcAft>
            </a:pPr>
            <a:r>
              <a:rPr sz="1600" b="0" i="0">
                <a:solidFill>
                  <a:srgbClr val="6B7280"/>
                </a:solidFill>
                <a:latin typeface="Calibri"/>
              </a:rPr>
              <a:t>–  /api/health responde ok; CRUD de productos opera contra MySQL.</a:t>
            </a:r>
          </a:p>
          <a:p>
            <a:pPr lvl="1">
              <a:spcAft>
                <a:spcPts val="800"/>
              </a:spcAft>
            </a:pPr>
            <a:r>
              <a:rPr sz="1600" b="0" i="0">
                <a:solidFill>
                  <a:srgbClr val="6B7280"/>
                </a:solidFill>
                <a:latin typeface="Calibri"/>
              </a:rPr>
              <a:t>–  Comunicacion Front -&gt; Back -&gt; BD verificada.</a:t>
            </a:r>
          </a:p>
          <a:p>
            <a:pPr>
              <a:spcAft>
                <a:spcPts val="800"/>
              </a:spcAft>
            </a:pPr>
            <a:r>
              <a:rPr sz="1800" b="1" i="0">
                <a:solidFill>
                  <a:srgbClr val="1F2937"/>
                </a:solidFill>
                <a:latin typeface="Calibri"/>
              </a:rPr>
              <a:t>•  Autorecuperacion: si una task muere, ECS la reemplaza para mantener el desiredCount.</a:t>
            </a:r>
          </a:p>
          <a:p>
            <a:pPr>
              <a:spcAft>
                <a:spcPts val="800"/>
              </a:spcAft>
            </a:pPr>
            <a:r>
              <a:rPr sz="1800" b="1" i="0">
                <a:solidFill>
                  <a:srgbClr val="1F2937"/>
                </a:solidFill>
                <a:latin typeface="Calibri"/>
              </a:rPr>
              <a:t>•  Circuit breaker: ante un deploy defectuoso, ECS revierte solo a la version estable.</a:t>
            </a:r>
          </a:p>
        </p:txBody>
      </p:sp>
      <p:sp>
        <p:nvSpPr>
          <p:cNvPr id="4" name="TextBox 3"/>
          <p:cNvSpPr txBox="1"/>
          <p:nvPr/>
        </p:nvSpPr>
        <p:spPr>
          <a:xfrm>
            <a:off x="640080" y="5897880"/>
            <a:ext cx="10972800" cy="548640"/>
          </a:xfrm>
          <a:prstGeom prst="rect">
            <a:avLst/>
          </a:prstGeom>
          <a:noFill/>
        </p:spPr>
        <p:txBody>
          <a:bodyPr wrap="square" anchor="t">
            <a:spAutoFit/>
          </a:bodyPr>
          <a:lstStyle/>
          <a:p>
            <a:r>
              <a:rPr sz="1300" b="0" i="1">
                <a:solidFill>
                  <a:srgbClr val="EA580C"/>
                </a:solidFill>
                <a:latin typeface="Calibri"/>
              </a:rPr>
              <a:t>[INSERTAR CAPTURA: CloudWatch logs + evento de task reemplazada]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Problemas encontrados y soluciones</a:t>
            </a:r>
          </a:p>
          <a:p>
            <a:r>
              <a:rPr sz="1300" b="0" i="0">
                <a:solidFill>
                  <a:srgbClr val="DBEAFE"/>
                </a:solidFill>
                <a:latin typeface="Calibri"/>
              </a:rPr>
              <a:t>Analisis critico (IE10)</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900" b="1" i="0">
                <a:solidFill>
                  <a:srgbClr val="1F2937"/>
                </a:solidFill>
                <a:latin typeface="Calibri"/>
              </a:rPr>
              <a:t>•  servicediscovery denegado -&gt; comunicacion con ALB (front-back) y NLB (back-db).</a:t>
            </a:r>
          </a:p>
          <a:p>
            <a:pPr>
              <a:spcAft>
                <a:spcPts val="800"/>
              </a:spcAft>
            </a:pPr>
            <a:r>
              <a:rPr sz="1900" b="1" i="0">
                <a:solidFill>
                  <a:srgbClr val="1F2937"/>
                </a:solidFill>
                <a:latin typeface="Calibri"/>
              </a:rPr>
              <a:t>•  No se pueden crear roles IAM / usar eksctl -&gt; ECS Fargate con LabRole.</a:t>
            </a:r>
          </a:p>
          <a:p>
            <a:pPr>
              <a:spcAft>
                <a:spcPts val="800"/>
              </a:spcAft>
            </a:pPr>
            <a:r>
              <a:rPr sz="1900" b="1" i="0">
                <a:solidFill>
                  <a:srgbClr val="1F2937"/>
                </a:solidFill>
                <a:latin typeface="Calibri"/>
              </a:rPr>
              <a:t>•  Pipeline 'Could not load credentials' -&gt; cargar los 3 secrets del lab en el repo.</a:t>
            </a:r>
          </a:p>
          <a:p>
            <a:pPr>
              <a:spcAft>
                <a:spcPts val="800"/>
              </a:spcAft>
            </a:pPr>
            <a:r>
              <a:rPr sz="1900" b="1" i="0">
                <a:solidFill>
                  <a:srgbClr val="1F2937"/>
                </a:solidFill>
                <a:latin typeface="Calibri"/>
              </a:rPr>
              <a:t>•  Rollback por circuit breaker -&gt; relanzar deploy (quedo estable).</a:t>
            </a:r>
          </a:p>
          <a:p>
            <a:pPr>
              <a:spcAft>
                <a:spcPts val="800"/>
              </a:spcAft>
            </a:pPr>
            <a:r>
              <a:rPr sz="1900" b="1" i="0">
                <a:solidFill>
                  <a:srgbClr val="1F2937"/>
                </a:solidFill>
                <a:latin typeface="Calibri"/>
              </a:rPr>
              <a:t>•  docker login 400 en PowerShell -&gt; usar docker login -u AWS -p &lt;token&gt;.</a:t>
            </a:r>
          </a:p>
          <a:p>
            <a:pPr>
              <a:spcAft>
                <a:spcPts val="800"/>
              </a:spcAft>
            </a:pPr>
            <a:r>
              <a:rPr sz="1900" b="1" i="0">
                <a:solidFill>
                  <a:srgbClr val="1F2937"/>
                </a:solidFill>
                <a:latin typeface="Calibri"/>
              </a:rPr>
              <a:t>•  ExpiredToken -&gt; refrescar credenciales del Learner Lab.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tIns="109728"/>
          <a:lstStyle/>
          <a:p>
            <a:pPr algn="ctr"/>
            <a:r>
              <a:rPr sz="2800" b="1" i="0">
                <a:solidFill>
                  <a:srgbClr val="FFFFFF"/>
                </a:solidFill>
                <a:latin typeface="Calibri"/>
              </a:rPr>
              <a:t>Conclusiones y proyeccion productiva</a:t>
            </a:r>
          </a:p>
        </p:txBody>
      </p:sp>
      <p:sp>
        <p:nvSpPr>
          <p:cNvPr id="3" name="TextBox 2"/>
          <p:cNvSpPr txBox="1"/>
          <p:nvPr/>
        </p:nvSpPr>
        <p:spPr>
          <a:xfrm>
            <a:off x="640080" y="1371600"/>
            <a:ext cx="10972800" cy="4937760"/>
          </a:xfrm>
          <a:prstGeom prst="rect">
            <a:avLst/>
          </a:prstGeom>
          <a:noFill/>
        </p:spPr>
        <p:txBody>
          <a:bodyPr wrap="square" anchor="t">
            <a:spAutoFit/>
          </a:bodyPr>
          <a:lstStyle/>
          <a:p>
            <a:pPr>
              <a:spcAft>
                <a:spcPts val="800"/>
              </a:spcAft>
            </a:pPr>
            <a:r>
              <a:rPr sz="1800" b="1" i="0">
                <a:solidFill>
                  <a:srgbClr val="1F2937"/>
                </a:solidFill>
                <a:latin typeface="Calibri"/>
              </a:rPr>
              <a:t>•  La app queda orquestada en ECS Fargate: escalable, tolerante a fallos y con CI/CD.</a:t>
            </a:r>
          </a:p>
          <a:p>
            <a:pPr>
              <a:spcAft>
                <a:spcPts val="800"/>
              </a:spcAft>
            </a:pPr>
            <a:r>
              <a:rPr sz="1800" b="1" i="0">
                <a:solidFill>
                  <a:srgbClr val="1F2937"/>
                </a:solidFill>
                <a:latin typeface="Calibri"/>
              </a:rPr>
              <a:t>•  El despliegue es automatico en cada push; las fallas son diagnosticables por logs.</a:t>
            </a:r>
          </a:p>
          <a:p>
            <a:pPr>
              <a:spcAft>
                <a:spcPts val="800"/>
              </a:spcAft>
            </a:pPr>
            <a:r>
              <a:rPr sz="1800" b="1" i="0">
                <a:solidFill>
                  <a:srgbClr val="1F2937"/>
                </a:solidFill>
                <a:latin typeface="Calibri"/>
              </a:rPr>
              <a:t>•  Proyeccion hacia produccion real para Innovatech Chile:</a:t>
            </a:r>
          </a:p>
          <a:p>
            <a:pPr lvl="1">
              <a:spcAft>
                <a:spcPts val="800"/>
              </a:spcAft>
            </a:pPr>
            <a:r>
              <a:rPr sz="1600" b="0" i="0">
                <a:solidFill>
                  <a:srgbClr val="6B7280"/>
                </a:solidFill>
                <a:latin typeface="Calibri"/>
              </a:rPr>
              <a:t>–  Roles IAM separados con privilegio minimo (en vez de un LabRole unico).</a:t>
            </a:r>
          </a:p>
          <a:p>
            <a:pPr lvl="1">
              <a:spcAft>
                <a:spcPts val="800"/>
              </a:spcAft>
            </a:pPr>
            <a:r>
              <a:rPr sz="1600" b="0" i="0">
                <a:solidFill>
                  <a:srgbClr val="6B7280"/>
                </a:solidFill>
                <a:latin typeface="Calibri"/>
              </a:rPr>
              <a:t>–  Base de datos en Amazon RDS gestionada (backups, multi-AZ) en vez de contenedor.</a:t>
            </a:r>
          </a:p>
          <a:p>
            <a:pPr lvl="1">
              <a:spcAft>
                <a:spcPts val="800"/>
              </a:spcAft>
            </a:pPr>
            <a:r>
              <a:rPr sz="1600" b="0" i="0">
                <a:solidFill>
                  <a:srgbClr val="6B7280"/>
                </a:solidFill>
                <a:latin typeface="Calibri"/>
              </a:rPr>
              <a:t>–  HTTPS en el ALB (ACM) + dominio propio en Route 53.</a:t>
            </a:r>
          </a:p>
          <a:p>
            <a:pPr lvl="1">
              <a:spcAft>
                <a:spcPts val="800"/>
              </a:spcAft>
            </a:pPr>
            <a:r>
              <a:rPr sz="1600" b="0" i="0">
                <a:solidFill>
                  <a:srgbClr val="6B7280"/>
                </a:solidFill>
                <a:latin typeface="Calibri"/>
              </a:rPr>
              <a:t>–  OIDC entre GitHub y AWS (sin claves estaticas que caducan).</a:t>
            </a:r>
          </a:p>
          <a:p>
            <a:pPr lvl="1">
              <a:spcAft>
                <a:spcPts val="800"/>
              </a:spcAft>
            </a:pPr>
            <a:r>
              <a:rPr sz="1600" b="0" i="0">
                <a:solidFill>
                  <a:srgbClr val="6B7280"/>
                </a:solidFill>
                <a:latin typeface="Calibri"/>
              </a:rPr>
              <a:t>–  Alarmas de CloudWatch y entorno de staging previo a produccion.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468880"/>
            <a:ext cx="10698480" cy="2011680"/>
          </a:xfrm>
          <a:prstGeom prst="rect">
            <a:avLst/>
          </a:prstGeom>
          <a:noFill/>
        </p:spPr>
        <p:txBody>
          <a:bodyPr wrap="square" anchor="ctr">
            <a:spAutoFit/>
          </a:bodyPr>
          <a:lstStyle/>
          <a:p>
            <a:r>
              <a:rPr sz="5400" b="1" i="0">
                <a:solidFill>
                  <a:srgbClr val="FFFFFF"/>
                </a:solidFill>
                <a:latin typeface="Calibri"/>
              </a:rPr>
              <a:t>Gracias</a:t>
            </a:r>
          </a:p>
          <a:p>
            <a:r>
              <a:rPr sz="2200" b="0" i="0">
                <a:solidFill>
                  <a:srgbClr val="DBEAFE"/>
                </a:solidFill>
                <a:latin typeface="Calibri"/>
              </a:rPr>
              <a:t>Preguntas?   -   github.com/jeffplop/tienda-perritos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